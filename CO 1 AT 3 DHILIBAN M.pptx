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 id="271" r:id="rId4"/>
    <p:sldId id="283" r:id="rId5"/>
    <p:sldId id="278" r:id="rId6"/>
    <p:sldId id="270" r:id="rId7"/>
    <p:sldId id="28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autoAdjust="0"/>
    <p:restoredTop sz="94694"/>
  </p:normalViewPr>
  <p:slideViewPr>
    <p:cSldViewPr snapToGrid="0">
      <p:cViewPr varScale="1">
        <p:scale>
          <a:sx n="121" d="100"/>
          <a:sy n="121" d="100"/>
        </p:scale>
        <p:origin x="9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FD5F7-6B90-A465-1B74-D380743374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E8CE5D-493B-3531-888A-2E9E15BCF1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7BD30C-18A6-B975-5FCE-1B6465EDAA7D}"/>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5" name="Footer Placeholder 4">
            <a:extLst>
              <a:ext uri="{FF2B5EF4-FFF2-40B4-BE49-F238E27FC236}">
                <a16:creationId xmlns:a16="http://schemas.microsoft.com/office/drawing/2014/main" id="{4375BC43-80D5-6639-C29B-C08B5098ED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933576-18CC-24C0-81D6-7729CCB0F5E9}"/>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3786651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2B6F5-FC16-6CE2-495D-F339FD9DA1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8E7CA4-5E67-4E90-B675-F0A9514175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1E8AEB-E5FD-B739-F0B5-41A7CAC2822A}"/>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5" name="Footer Placeholder 4">
            <a:extLst>
              <a:ext uri="{FF2B5EF4-FFF2-40B4-BE49-F238E27FC236}">
                <a16:creationId xmlns:a16="http://schemas.microsoft.com/office/drawing/2014/main" id="{B1076D78-954C-268E-97E1-7B24E79DA0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00C665-3E61-0421-14A9-94FA5F39D289}"/>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1650785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404BD-9FB2-04DE-32CB-06B9F75F3C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67C9A1-436F-6438-00F8-28B0CADB24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F693AA-8F63-0BB0-7C8D-7BC870210B25}"/>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5" name="Footer Placeholder 4">
            <a:extLst>
              <a:ext uri="{FF2B5EF4-FFF2-40B4-BE49-F238E27FC236}">
                <a16:creationId xmlns:a16="http://schemas.microsoft.com/office/drawing/2014/main" id="{C9D4E5D8-35AA-6E50-2906-72420B989C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B67D6-6894-2AAB-F801-A290D328AC31}"/>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650222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A6FC4-A351-96A6-E1BE-27674706CE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798C74-2C5C-2358-2DB0-BC25FE36D0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1D2257-BB16-42F1-A819-54C83E86FC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E939A0-0F1D-04AB-920D-859644C50D73}"/>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6" name="Footer Placeholder 5">
            <a:extLst>
              <a:ext uri="{FF2B5EF4-FFF2-40B4-BE49-F238E27FC236}">
                <a16:creationId xmlns:a16="http://schemas.microsoft.com/office/drawing/2014/main" id="{E1D13CD3-17B3-6985-267C-AB7CF3A5AC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C4F740-A29B-725B-966A-CBE04E2A9D05}"/>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3861436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15E0C-8939-BE2E-A0DB-50899B5CB2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B8180B-5FC7-9889-7EE5-37DC1B87A3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B4FBAA-BDAA-9AD7-0799-BF1461DF89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C77F88-4E69-664B-C404-72E6CEACCE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0B3FE-E5F1-60FB-8BA6-8FD8A14426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17E7B1-656F-7BF6-A319-E8CB9D5D2E36}"/>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8" name="Footer Placeholder 7">
            <a:extLst>
              <a:ext uri="{FF2B5EF4-FFF2-40B4-BE49-F238E27FC236}">
                <a16:creationId xmlns:a16="http://schemas.microsoft.com/office/drawing/2014/main" id="{DF764BB5-37CE-2128-FE45-A32B7045DE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01BA106-74B6-3212-3FA1-82A701ABF5B8}"/>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1754965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6D96-FFA8-E98B-9D08-E0E93F5327F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B3AD381-CECF-8848-0B55-1E36F7461A26}"/>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4" name="Footer Placeholder 3">
            <a:extLst>
              <a:ext uri="{FF2B5EF4-FFF2-40B4-BE49-F238E27FC236}">
                <a16:creationId xmlns:a16="http://schemas.microsoft.com/office/drawing/2014/main" id="{14340576-244F-9410-50CA-201045F73AE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4E00F6-C4D5-265C-FED3-8C708486AE2F}"/>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2277001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A4FE22-5000-1CED-E531-74890B6AE654}"/>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3" name="Footer Placeholder 2">
            <a:extLst>
              <a:ext uri="{FF2B5EF4-FFF2-40B4-BE49-F238E27FC236}">
                <a16:creationId xmlns:a16="http://schemas.microsoft.com/office/drawing/2014/main" id="{78A1A75E-6490-C448-33C6-422CA28103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FBB74C-1F24-F20E-9D15-01B14C29CC87}"/>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2768070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F1177-1D16-B693-1B19-FCA3160695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897FE2-0955-3ECA-0146-C7933E90FB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62BCDF-A761-8B5E-B697-D4FFC8E85A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CCF69-2082-86BA-F595-4B27791A325A}"/>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6" name="Footer Placeholder 5">
            <a:extLst>
              <a:ext uri="{FF2B5EF4-FFF2-40B4-BE49-F238E27FC236}">
                <a16:creationId xmlns:a16="http://schemas.microsoft.com/office/drawing/2014/main" id="{62EE25E1-BAF0-C06E-6CCC-635282ADEA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DD18BF-31F8-1EB7-A159-7C1D9162AD00}"/>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1699964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A07AF-6A40-0288-9F37-B6754F825E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4B92FF1-8E7A-A25F-FBE4-425E867380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09DFD38-9981-5161-E281-26CB7E5C59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361B09-0341-1DF9-0D81-E3C8A5C7A1F9}"/>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6" name="Footer Placeholder 5">
            <a:extLst>
              <a:ext uri="{FF2B5EF4-FFF2-40B4-BE49-F238E27FC236}">
                <a16:creationId xmlns:a16="http://schemas.microsoft.com/office/drawing/2014/main" id="{F7B83A30-BE8B-39E9-9821-A9198FAA7C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391A60-3CB6-95A7-AB16-C1F0F930481E}"/>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3420263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67FA1-A8FB-FB18-2C55-E1D8A8F034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AC2E07-D63E-ADB7-7AB4-86C65D2900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4A3B1C-1ED5-7B9D-99A2-58F6EDC77EB2}"/>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5" name="Footer Placeholder 4">
            <a:extLst>
              <a:ext uri="{FF2B5EF4-FFF2-40B4-BE49-F238E27FC236}">
                <a16:creationId xmlns:a16="http://schemas.microsoft.com/office/drawing/2014/main" id="{7F0EE260-BFAE-DBEA-E076-E4A01F2428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34FBE6-F825-A43B-FEBE-F71B89C10493}"/>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4279741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C59844-3884-EF0C-95D3-E7B0B4F882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E034E5-9CBE-DD80-9E85-A6EB98529C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23AA38-E126-CF11-DA71-4719CE36B3B5}"/>
              </a:ext>
            </a:extLst>
          </p:cNvPr>
          <p:cNvSpPr>
            <a:spLocks noGrp="1"/>
          </p:cNvSpPr>
          <p:nvPr>
            <p:ph type="dt" sz="half" idx="10"/>
          </p:nvPr>
        </p:nvSpPr>
        <p:spPr/>
        <p:txBody>
          <a:bodyPr/>
          <a:lstStyle/>
          <a:p>
            <a:fld id="{0CA24CC2-D1DB-4807-9C95-E4109972C405}" type="datetimeFigureOut">
              <a:rPr lang="en-IN" smtClean="0"/>
              <a:t>24/07/26</a:t>
            </a:fld>
            <a:endParaRPr lang="en-IN"/>
          </a:p>
        </p:txBody>
      </p:sp>
      <p:sp>
        <p:nvSpPr>
          <p:cNvPr id="5" name="Footer Placeholder 4">
            <a:extLst>
              <a:ext uri="{FF2B5EF4-FFF2-40B4-BE49-F238E27FC236}">
                <a16:creationId xmlns:a16="http://schemas.microsoft.com/office/drawing/2014/main" id="{D24A5279-328F-B499-F8AD-F5A65AE6F8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1AB5BE-80DD-5086-70CE-104B6BE8C6EC}"/>
              </a:ext>
            </a:extLst>
          </p:cNvPr>
          <p:cNvSpPr>
            <a:spLocks noGrp="1"/>
          </p:cNvSpPr>
          <p:nvPr>
            <p:ph type="sldNum" sz="quarter" idx="12"/>
          </p:nvPr>
        </p:nvSpPr>
        <p:spPr/>
        <p:txBody>
          <a:bodyPr/>
          <a:lstStyle/>
          <a:p>
            <a:fld id="{834741D1-7E9E-4CFC-A4D9-7B589B569C7B}" type="slidenum">
              <a:rPr lang="en-IN" smtClean="0"/>
              <a:t>‹#›</a:t>
            </a:fld>
            <a:endParaRPr lang="en-IN"/>
          </a:p>
        </p:txBody>
      </p:sp>
    </p:spTree>
    <p:extLst>
      <p:ext uri="{BB962C8B-B14F-4D97-AF65-F5344CB8AC3E}">
        <p14:creationId xmlns:p14="http://schemas.microsoft.com/office/powerpoint/2010/main" val="4216048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B972E7-694A-5C63-9E29-F5072FB74D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9CD4AF-51AC-D31D-82AD-35E84B58D2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4945E1-1703-B90B-A498-BE56960ECB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A24CC2-D1DB-4807-9C95-E4109972C405}" type="datetimeFigureOut">
              <a:rPr lang="en-IN" smtClean="0"/>
              <a:t>24/07/26</a:t>
            </a:fld>
            <a:endParaRPr lang="en-IN"/>
          </a:p>
        </p:txBody>
      </p:sp>
      <p:sp>
        <p:nvSpPr>
          <p:cNvPr id="5" name="Footer Placeholder 4">
            <a:extLst>
              <a:ext uri="{FF2B5EF4-FFF2-40B4-BE49-F238E27FC236}">
                <a16:creationId xmlns:a16="http://schemas.microsoft.com/office/drawing/2014/main" id="{E8A6A8D9-6A1E-4F15-8BEE-3AEC0A2263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21EA721-EAB1-7907-8F2D-43BBC5FB9D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741D1-7E9E-4CFC-A4D9-7B589B569C7B}" type="slidenum">
              <a:rPr lang="en-IN" smtClean="0"/>
              <a:t>‹#›</a:t>
            </a:fld>
            <a:endParaRPr lang="en-IN"/>
          </a:p>
        </p:txBody>
      </p:sp>
    </p:spTree>
    <p:extLst>
      <p:ext uri="{BB962C8B-B14F-4D97-AF65-F5344CB8AC3E}">
        <p14:creationId xmlns:p14="http://schemas.microsoft.com/office/powerpoint/2010/main" val="410546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4">
            <a:extLst>
              <a:ext uri="{FF2B5EF4-FFF2-40B4-BE49-F238E27FC236}">
                <a16:creationId xmlns:a16="http://schemas.microsoft.com/office/drawing/2014/main" id="{80A89C50-7E8C-A3CF-756A-C4E7409DA296}"/>
              </a:ext>
            </a:extLst>
          </p:cNvPr>
          <p:cNvPicPr/>
          <p:nvPr/>
        </p:nvPicPr>
        <p:blipFill>
          <a:blip r:embed="rId2" cstate="print"/>
          <a:stretch>
            <a:fillRect/>
          </a:stretch>
        </p:blipFill>
        <p:spPr>
          <a:xfrm>
            <a:off x="357352" y="191643"/>
            <a:ext cx="1103582" cy="1342897"/>
          </a:xfrm>
          <a:prstGeom prst="rect">
            <a:avLst/>
          </a:prstGeom>
        </p:spPr>
      </p:pic>
      <p:sp>
        <p:nvSpPr>
          <p:cNvPr id="4" name="TextBox 3">
            <a:extLst>
              <a:ext uri="{FF2B5EF4-FFF2-40B4-BE49-F238E27FC236}">
                <a16:creationId xmlns:a16="http://schemas.microsoft.com/office/drawing/2014/main" id="{BF3C0354-2E52-FEB8-1CA8-1B784030512A}"/>
              </a:ext>
            </a:extLst>
          </p:cNvPr>
          <p:cNvSpPr txBox="1"/>
          <p:nvPr/>
        </p:nvSpPr>
        <p:spPr>
          <a:xfrm>
            <a:off x="2186317" y="2612811"/>
            <a:ext cx="8193816" cy="1077218"/>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Spam Email Classification Using Machine Learning</a:t>
            </a:r>
          </a:p>
        </p:txBody>
      </p:sp>
      <p:pic>
        <p:nvPicPr>
          <p:cNvPr id="5" name="object 5">
            <a:extLst>
              <a:ext uri="{FF2B5EF4-FFF2-40B4-BE49-F238E27FC236}">
                <a16:creationId xmlns:a16="http://schemas.microsoft.com/office/drawing/2014/main" id="{71E0564C-1B67-D631-C95E-B77E79881359}"/>
              </a:ext>
            </a:extLst>
          </p:cNvPr>
          <p:cNvPicPr/>
          <p:nvPr/>
        </p:nvPicPr>
        <p:blipFill>
          <a:blip r:embed="rId3" cstate="print"/>
          <a:stretch>
            <a:fillRect/>
          </a:stretch>
        </p:blipFill>
        <p:spPr>
          <a:xfrm>
            <a:off x="10473267" y="191643"/>
            <a:ext cx="1560998" cy="1342897"/>
          </a:xfrm>
          <a:prstGeom prst="rect">
            <a:avLst/>
          </a:prstGeom>
        </p:spPr>
      </p:pic>
      <p:sp>
        <p:nvSpPr>
          <p:cNvPr id="7" name="TextBox 6">
            <a:extLst>
              <a:ext uri="{FF2B5EF4-FFF2-40B4-BE49-F238E27FC236}">
                <a16:creationId xmlns:a16="http://schemas.microsoft.com/office/drawing/2014/main" id="{D5BA0677-6AEC-2A66-C154-143A9FAE8FA1}"/>
              </a:ext>
            </a:extLst>
          </p:cNvPr>
          <p:cNvSpPr txBox="1"/>
          <p:nvPr/>
        </p:nvSpPr>
        <p:spPr>
          <a:xfrm>
            <a:off x="2266074" y="399265"/>
            <a:ext cx="7798894" cy="461665"/>
          </a:xfrm>
          <a:prstGeom prst="rect">
            <a:avLst/>
          </a:prstGeom>
          <a:noFill/>
        </p:spPr>
        <p:txBody>
          <a:bodyPr wrap="square">
            <a:spAutoFit/>
          </a:bodyPr>
          <a:lstStyle/>
          <a:p>
            <a:pPr marL="12700" marR="5080" algn="ctr">
              <a:lnSpc>
                <a:spcPct val="100000"/>
              </a:lnSpc>
            </a:pPr>
            <a:r>
              <a:rPr lang="en-US" sz="2400" b="1" dirty="0">
                <a:latin typeface="Times New Roman" panose="02020603050405020304" pitchFamily="18" charset="0"/>
                <a:cs typeface="Times New Roman" panose="02020603050405020304" pitchFamily="18" charset="0"/>
              </a:rPr>
              <a:t>ITA0611 - MACHINE LEARNING</a:t>
            </a:r>
            <a:endParaRPr lang="en-US" sz="2400" b="1" i="0" dirty="0">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D9474AB-FDCE-3CCE-28C1-282CD714E372}"/>
              </a:ext>
            </a:extLst>
          </p:cNvPr>
          <p:cNvSpPr txBox="1"/>
          <p:nvPr/>
        </p:nvSpPr>
        <p:spPr>
          <a:xfrm>
            <a:off x="8494653" y="4995634"/>
            <a:ext cx="3539612" cy="120032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Presented by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Ajay S (192424078)</a:t>
            </a:r>
          </a:p>
          <a:p>
            <a:r>
              <a:rPr lang="en-IN" dirty="0" err="1">
                <a:latin typeface="Times New Roman" panose="02020603050405020304" pitchFamily="18" charset="0"/>
                <a:cs typeface="Times New Roman" panose="02020603050405020304" pitchFamily="18" charset="0"/>
              </a:rPr>
              <a:t>Dhiliban</a:t>
            </a:r>
            <a:r>
              <a:rPr lang="en-IN" dirty="0">
                <a:latin typeface="Times New Roman" panose="02020603050405020304" pitchFamily="18" charset="0"/>
                <a:cs typeface="Times New Roman" panose="02020603050405020304" pitchFamily="18" charset="0"/>
              </a:rPr>
              <a:t> M (192421166)</a:t>
            </a:r>
          </a:p>
          <a:p>
            <a:r>
              <a:rPr lang="en-IN" dirty="0" err="1">
                <a:latin typeface="Times New Roman" panose="02020603050405020304" pitchFamily="18" charset="0"/>
                <a:cs typeface="Times New Roman" panose="02020603050405020304" pitchFamily="18" charset="0"/>
              </a:rPr>
              <a:t>Tharun</a:t>
            </a:r>
            <a:r>
              <a:rPr lang="en-IN" dirty="0">
                <a:latin typeface="Times New Roman" panose="02020603050405020304" pitchFamily="18" charset="0"/>
                <a:cs typeface="Times New Roman" panose="02020603050405020304" pitchFamily="18" charset="0"/>
              </a:rPr>
              <a:t> LV (192524348)</a:t>
            </a:r>
          </a:p>
        </p:txBody>
      </p:sp>
      <p:sp>
        <p:nvSpPr>
          <p:cNvPr id="3" name="TextBox 2">
            <a:extLst>
              <a:ext uri="{FF2B5EF4-FFF2-40B4-BE49-F238E27FC236}">
                <a16:creationId xmlns:a16="http://schemas.microsoft.com/office/drawing/2014/main" id="{E9C2A187-398F-677B-BFF5-D2E3A05E1041}"/>
              </a:ext>
            </a:extLst>
          </p:cNvPr>
          <p:cNvSpPr txBox="1"/>
          <p:nvPr/>
        </p:nvSpPr>
        <p:spPr>
          <a:xfrm>
            <a:off x="357352" y="4995634"/>
            <a:ext cx="4186882"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Guided by:</a:t>
            </a:r>
          </a:p>
          <a:p>
            <a:r>
              <a:rPr lang="en-US" dirty="0" err="1">
                <a:latin typeface="Times New Roman" panose="02020603050405020304" pitchFamily="18" charset="0"/>
                <a:cs typeface="Times New Roman" panose="02020603050405020304" pitchFamily="18" charset="0"/>
              </a:rPr>
              <a:t>Jasphin</a:t>
            </a:r>
            <a:r>
              <a:rPr lang="en-US" dirty="0">
                <a:latin typeface="Times New Roman" panose="02020603050405020304" pitchFamily="18" charset="0"/>
                <a:cs typeface="Times New Roman" panose="02020603050405020304" pitchFamily="18" charset="0"/>
              </a:rPr>
              <a:t> Jeni Sharmila</a:t>
            </a:r>
          </a:p>
        </p:txBody>
      </p:sp>
      <p:sp>
        <p:nvSpPr>
          <p:cNvPr id="6" name="TextBox 5">
            <a:extLst>
              <a:ext uri="{FF2B5EF4-FFF2-40B4-BE49-F238E27FC236}">
                <a16:creationId xmlns:a16="http://schemas.microsoft.com/office/drawing/2014/main" id="{7A27BB9A-26AD-ED91-57EB-903D4AD69684}"/>
              </a:ext>
            </a:extLst>
          </p:cNvPr>
          <p:cNvSpPr txBox="1"/>
          <p:nvPr/>
        </p:nvSpPr>
        <p:spPr>
          <a:xfrm>
            <a:off x="2701128" y="2535867"/>
            <a:ext cx="184731" cy="615553"/>
          </a:xfrm>
          <a:prstGeom prst="rect">
            <a:avLst/>
          </a:prstGeom>
          <a:noFill/>
        </p:spPr>
        <p:txBody>
          <a:bodyPr wrap="none" rtlCol="0">
            <a:spAutoFit/>
          </a:bodyPr>
          <a:lstStyle/>
          <a:p>
            <a:endParaRPr lang="en-US" sz="1600" b="1" dirty="0"/>
          </a:p>
          <a:p>
            <a:endParaRPr lang="en-US" dirty="0"/>
          </a:p>
        </p:txBody>
      </p:sp>
    </p:spTree>
    <p:extLst>
      <p:ext uri="{BB962C8B-B14F-4D97-AF65-F5344CB8AC3E}">
        <p14:creationId xmlns:p14="http://schemas.microsoft.com/office/powerpoint/2010/main" val="1890993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4">
            <a:extLst>
              <a:ext uri="{FF2B5EF4-FFF2-40B4-BE49-F238E27FC236}">
                <a16:creationId xmlns:a16="http://schemas.microsoft.com/office/drawing/2014/main" id="{FC4E29F6-4021-821B-CF09-EE3B378BE4CB}"/>
              </a:ext>
            </a:extLst>
          </p:cNvPr>
          <p:cNvPicPr/>
          <p:nvPr/>
        </p:nvPicPr>
        <p:blipFill>
          <a:blip r:embed="rId2" cstate="print"/>
          <a:stretch>
            <a:fillRect/>
          </a:stretch>
        </p:blipFill>
        <p:spPr>
          <a:xfrm>
            <a:off x="357352" y="191643"/>
            <a:ext cx="1103582" cy="1342897"/>
          </a:xfrm>
          <a:prstGeom prst="rect">
            <a:avLst/>
          </a:prstGeom>
        </p:spPr>
      </p:pic>
      <p:pic>
        <p:nvPicPr>
          <p:cNvPr id="3" name="object 5">
            <a:extLst>
              <a:ext uri="{FF2B5EF4-FFF2-40B4-BE49-F238E27FC236}">
                <a16:creationId xmlns:a16="http://schemas.microsoft.com/office/drawing/2014/main" id="{0E0BCB95-8283-92DC-1CAA-5681AD456A66}"/>
              </a:ext>
            </a:extLst>
          </p:cNvPr>
          <p:cNvPicPr/>
          <p:nvPr/>
        </p:nvPicPr>
        <p:blipFill>
          <a:blip r:embed="rId3" cstate="print"/>
          <a:stretch>
            <a:fillRect/>
          </a:stretch>
        </p:blipFill>
        <p:spPr>
          <a:xfrm>
            <a:off x="10267406" y="191643"/>
            <a:ext cx="1766860" cy="1342897"/>
          </a:xfrm>
          <a:prstGeom prst="rect">
            <a:avLst/>
          </a:prstGeom>
        </p:spPr>
      </p:pic>
      <p:sp>
        <p:nvSpPr>
          <p:cNvPr id="5" name="TextBox 4">
            <a:extLst>
              <a:ext uri="{FF2B5EF4-FFF2-40B4-BE49-F238E27FC236}">
                <a16:creationId xmlns:a16="http://schemas.microsoft.com/office/drawing/2014/main" id="{021A7BC6-2AEF-5D60-2E0D-140198B6A332}"/>
              </a:ext>
            </a:extLst>
          </p:cNvPr>
          <p:cNvSpPr txBox="1"/>
          <p:nvPr/>
        </p:nvSpPr>
        <p:spPr>
          <a:xfrm>
            <a:off x="4574001" y="552255"/>
            <a:ext cx="3043995"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Introduction</a:t>
            </a:r>
          </a:p>
        </p:txBody>
      </p:sp>
      <p:sp>
        <p:nvSpPr>
          <p:cNvPr id="7" name="Rectangle 1">
            <a:extLst>
              <a:ext uri="{FF2B5EF4-FFF2-40B4-BE49-F238E27FC236}">
                <a16:creationId xmlns:a16="http://schemas.microsoft.com/office/drawing/2014/main" id="{96930A31-985C-B6F8-7193-979033F86473}"/>
              </a:ext>
            </a:extLst>
          </p:cNvPr>
          <p:cNvSpPr>
            <a:spLocks noChangeArrowheads="1"/>
          </p:cNvSpPr>
          <p:nvPr/>
        </p:nvSpPr>
        <p:spPr bwMode="auto">
          <a:xfrm rot="10800000" flipV="1">
            <a:off x="934567" y="4019224"/>
            <a:ext cx="62501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en-US" dirty="0"/>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id="{B8373745-BD11-2B2C-53C4-F11CB2A40846}"/>
              </a:ext>
            </a:extLst>
          </p:cNvPr>
          <p:cNvSpPr>
            <a:spLocks noChangeArrowheads="1"/>
          </p:cNvSpPr>
          <p:nvPr/>
        </p:nvSpPr>
        <p:spPr bwMode="auto">
          <a:xfrm>
            <a:off x="1273469" y="1602868"/>
            <a:ext cx="987736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Spam emails are unsolicited messages sent in bulk, often containing advertisements, phishing links, malware, or fraudulent content that can compromise user security.</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With the rapid growth of digital communication, millions of spam emails are generated every day, making manual filtering inefficient and time-consuming.</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rule-based spam filters rely on predefined keywords and rules, but they struggle to detect new and evolving spam techniques used by cybercriminals.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Machine Learning (ML) enables computers to learn patterns from previously labeled emails and automatically classify new emails as Spam or Ham (Legitimate) with high accuracy.</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By analyzing email content, sender information, and textual patterns, ML-based spam filters continuously improve their detection capability, providing better security and a safer email experience for users.</a:t>
            </a:r>
          </a:p>
          <a:p>
            <a:pPr marL="342900" indent="-342900" algn="just">
              <a:spcAft>
                <a:spcPts val="600"/>
              </a:spcAft>
              <a:buSzPct val="1000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7021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970A-9C80-EDDE-5032-2A185E9E247E}"/>
            </a:ext>
          </a:extLst>
        </p:cNvPr>
        <p:cNvGrpSpPr/>
        <p:nvPr/>
      </p:nvGrpSpPr>
      <p:grpSpPr>
        <a:xfrm>
          <a:off x="0" y="0"/>
          <a:ext cx="0" cy="0"/>
          <a:chOff x="0" y="0"/>
          <a:chExt cx="0" cy="0"/>
        </a:xfrm>
      </p:grpSpPr>
      <p:pic>
        <p:nvPicPr>
          <p:cNvPr id="2" name="object 4">
            <a:extLst>
              <a:ext uri="{FF2B5EF4-FFF2-40B4-BE49-F238E27FC236}">
                <a16:creationId xmlns:a16="http://schemas.microsoft.com/office/drawing/2014/main" id="{E78316F4-B4CA-81AF-DE32-B99670F07ED6}"/>
              </a:ext>
            </a:extLst>
          </p:cNvPr>
          <p:cNvPicPr/>
          <p:nvPr/>
        </p:nvPicPr>
        <p:blipFill>
          <a:blip r:embed="rId2" cstate="print"/>
          <a:stretch>
            <a:fillRect/>
          </a:stretch>
        </p:blipFill>
        <p:spPr>
          <a:xfrm>
            <a:off x="357352" y="191643"/>
            <a:ext cx="1103582" cy="1342897"/>
          </a:xfrm>
          <a:prstGeom prst="rect">
            <a:avLst/>
          </a:prstGeom>
        </p:spPr>
      </p:pic>
      <p:pic>
        <p:nvPicPr>
          <p:cNvPr id="3" name="object 5">
            <a:extLst>
              <a:ext uri="{FF2B5EF4-FFF2-40B4-BE49-F238E27FC236}">
                <a16:creationId xmlns:a16="http://schemas.microsoft.com/office/drawing/2014/main" id="{F1D63BDB-2627-C7CD-0903-E00D30024C77}"/>
              </a:ext>
            </a:extLst>
          </p:cNvPr>
          <p:cNvPicPr/>
          <p:nvPr/>
        </p:nvPicPr>
        <p:blipFill>
          <a:blip r:embed="rId3" cstate="print"/>
          <a:stretch>
            <a:fillRect/>
          </a:stretch>
        </p:blipFill>
        <p:spPr>
          <a:xfrm>
            <a:off x="10267406" y="191643"/>
            <a:ext cx="1766860" cy="1342897"/>
          </a:xfrm>
          <a:prstGeom prst="rect">
            <a:avLst/>
          </a:prstGeom>
        </p:spPr>
      </p:pic>
      <p:sp>
        <p:nvSpPr>
          <p:cNvPr id="5" name="TextBox 4">
            <a:extLst>
              <a:ext uri="{FF2B5EF4-FFF2-40B4-BE49-F238E27FC236}">
                <a16:creationId xmlns:a16="http://schemas.microsoft.com/office/drawing/2014/main" id="{B08D8A0D-CB88-555C-6C32-07015EEC613C}"/>
              </a:ext>
            </a:extLst>
          </p:cNvPr>
          <p:cNvSpPr txBox="1"/>
          <p:nvPr/>
        </p:nvSpPr>
        <p:spPr>
          <a:xfrm>
            <a:off x="3683728" y="601482"/>
            <a:ext cx="4360884"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Objectives</a:t>
            </a:r>
          </a:p>
        </p:txBody>
      </p:sp>
      <p:sp>
        <p:nvSpPr>
          <p:cNvPr id="6" name="Rectangle 1">
            <a:extLst>
              <a:ext uri="{FF2B5EF4-FFF2-40B4-BE49-F238E27FC236}">
                <a16:creationId xmlns:a16="http://schemas.microsoft.com/office/drawing/2014/main" id="{F8213FF9-03AF-0D48-41E1-02A2EB013FD8}"/>
              </a:ext>
            </a:extLst>
          </p:cNvPr>
          <p:cNvSpPr>
            <a:spLocks noChangeArrowheads="1"/>
          </p:cNvSpPr>
          <p:nvPr/>
        </p:nvSpPr>
        <p:spPr bwMode="auto">
          <a:xfrm>
            <a:off x="1250727" y="1645277"/>
            <a:ext cx="9409311"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Accurately classify emails as Spam or Ham (Legitimate) using Machine Learning techniques to improve email management.</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Protect users from cyber threats such as phishing attacks, malware, ransomware, and fraudulent emails by identifying suspicious messages before they reach the inbox.</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 false positives and false negatives, ensuring that legitimate emails are delivered correctly while spam emails are effectively filtered.</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 the efficiency of email communication by minimizing unwanted emails, reducing manual filtering, and enhancing the overall user experience.</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scalable and adaptive spam detection system that continuously learns from new email patterns and evolving spam techniques to maintain high classification accuracy.</a:t>
            </a:r>
          </a:p>
        </p:txBody>
      </p:sp>
    </p:spTree>
    <p:extLst>
      <p:ext uri="{BB962C8B-B14F-4D97-AF65-F5344CB8AC3E}">
        <p14:creationId xmlns:p14="http://schemas.microsoft.com/office/powerpoint/2010/main" val="206754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1A05A-93AB-2EC8-C478-0BE24F33C6FE}"/>
            </a:ext>
          </a:extLst>
        </p:cNvPr>
        <p:cNvGrpSpPr/>
        <p:nvPr/>
      </p:nvGrpSpPr>
      <p:grpSpPr>
        <a:xfrm>
          <a:off x="0" y="0"/>
          <a:ext cx="0" cy="0"/>
          <a:chOff x="0" y="0"/>
          <a:chExt cx="0" cy="0"/>
        </a:xfrm>
      </p:grpSpPr>
      <p:pic>
        <p:nvPicPr>
          <p:cNvPr id="2" name="object 4">
            <a:extLst>
              <a:ext uri="{FF2B5EF4-FFF2-40B4-BE49-F238E27FC236}">
                <a16:creationId xmlns:a16="http://schemas.microsoft.com/office/drawing/2014/main" id="{5A801832-43DF-0080-2B17-7C2EB7667B0E}"/>
              </a:ext>
            </a:extLst>
          </p:cNvPr>
          <p:cNvPicPr/>
          <p:nvPr/>
        </p:nvPicPr>
        <p:blipFill>
          <a:blip r:embed="rId2" cstate="print"/>
          <a:stretch>
            <a:fillRect/>
          </a:stretch>
        </p:blipFill>
        <p:spPr>
          <a:xfrm>
            <a:off x="357352" y="191643"/>
            <a:ext cx="1103582" cy="1342897"/>
          </a:xfrm>
          <a:prstGeom prst="rect">
            <a:avLst/>
          </a:prstGeom>
        </p:spPr>
      </p:pic>
      <p:pic>
        <p:nvPicPr>
          <p:cNvPr id="3" name="object 5">
            <a:extLst>
              <a:ext uri="{FF2B5EF4-FFF2-40B4-BE49-F238E27FC236}">
                <a16:creationId xmlns:a16="http://schemas.microsoft.com/office/drawing/2014/main" id="{919C33F5-FF46-28B6-E1B1-1CFEBAEC0B69}"/>
              </a:ext>
            </a:extLst>
          </p:cNvPr>
          <p:cNvPicPr/>
          <p:nvPr/>
        </p:nvPicPr>
        <p:blipFill>
          <a:blip r:embed="rId3" cstate="print"/>
          <a:stretch>
            <a:fillRect/>
          </a:stretch>
        </p:blipFill>
        <p:spPr>
          <a:xfrm>
            <a:off x="10267406" y="191643"/>
            <a:ext cx="1766860" cy="1342897"/>
          </a:xfrm>
          <a:prstGeom prst="rect">
            <a:avLst/>
          </a:prstGeom>
        </p:spPr>
      </p:pic>
      <p:sp>
        <p:nvSpPr>
          <p:cNvPr id="5" name="TextBox 4">
            <a:extLst>
              <a:ext uri="{FF2B5EF4-FFF2-40B4-BE49-F238E27FC236}">
                <a16:creationId xmlns:a16="http://schemas.microsoft.com/office/drawing/2014/main" id="{1DBE9B85-7752-BDE7-4253-8655DBFD72A7}"/>
              </a:ext>
            </a:extLst>
          </p:cNvPr>
          <p:cNvSpPr txBox="1"/>
          <p:nvPr/>
        </p:nvSpPr>
        <p:spPr>
          <a:xfrm>
            <a:off x="3964401" y="564382"/>
            <a:ext cx="3959772"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System Architecture</a:t>
            </a:r>
          </a:p>
        </p:txBody>
      </p:sp>
      <p:sp>
        <p:nvSpPr>
          <p:cNvPr id="7" name="Rectangle 1">
            <a:extLst>
              <a:ext uri="{FF2B5EF4-FFF2-40B4-BE49-F238E27FC236}">
                <a16:creationId xmlns:a16="http://schemas.microsoft.com/office/drawing/2014/main" id="{AAAA6320-9E7A-B116-F2F6-0BBACC588519}"/>
              </a:ext>
            </a:extLst>
          </p:cNvPr>
          <p:cNvSpPr>
            <a:spLocks noChangeArrowheads="1"/>
          </p:cNvSpPr>
          <p:nvPr/>
        </p:nvSpPr>
        <p:spPr bwMode="auto">
          <a:xfrm rot="10800000" flipV="1">
            <a:off x="934567" y="4019224"/>
            <a:ext cx="62501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en-US" dirty="0"/>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3" name="Picture 42">
            <a:extLst>
              <a:ext uri="{FF2B5EF4-FFF2-40B4-BE49-F238E27FC236}">
                <a16:creationId xmlns:a16="http://schemas.microsoft.com/office/drawing/2014/main" id="{0134EF76-AF55-3775-D4E2-6C7820BA9CD8}"/>
              </a:ext>
            </a:extLst>
          </p:cNvPr>
          <p:cNvPicPr>
            <a:picLocks noChangeAspect="1"/>
          </p:cNvPicPr>
          <p:nvPr/>
        </p:nvPicPr>
        <p:blipFill>
          <a:blip r:embed="rId4"/>
          <a:srcRect r="49053"/>
          <a:stretch/>
        </p:blipFill>
        <p:spPr>
          <a:xfrm>
            <a:off x="2136228" y="1534540"/>
            <a:ext cx="3959772" cy="4235858"/>
          </a:xfrm>
          <a:prstGeom prst="rect">
            <a:avLst/>
          </a:prstGeom>
        </p:spPr>
      </p:pic>
      <p:sp>
        <p:nvSpPr>
          <p:cNvPr id="44" name="TextBox 43">
            <a:extLst>
              <a:ext uri="{FF2B5EF4-FFF2-40B4-BE49-F238E27FC236}">
                <a16:creationId xmlns:a16="http://schemas.microsoft.com/office/drawing/2014/main" id="{4BF509C9-BA12-3845-CC54-143739452B24}"/>
              </a:ext>
            </a:extLst>
          </p:cNvPr>
          <p:cNvSpPr txBox="1"/>
          <p:nvPr/>
        </p:nvSpPr>
        <p:spPr>
          <a:xfrm>
            <a:off x="6771294" y="2359807"/>
            <a:ext cx="3666388" cy="2585323"/>
          </a:xfrm>
          <a:prstGeom prst="rect">
            <a:avLst/>
          </a:prstGeom>
          <a:noFill/>
        </p:spPr>
        <p:txBody>
          <a:bodyPr wrap="none" rtlCol="0">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Email is received. </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Text is cleaned and processed. </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Features are extracted. </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ML model predicts the category.</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Email is routed to Spam or Inbox.</a:t>
            </a:r>
          </a:p>
        </p:txBody>
      </p:sp>
    </p:spTree>
    <p:extLst>
      <p:ext uri="{BB962C8B-B14F-4D97-AF65-F5344CB8AC3E}">
        <p14:creationId xmlns:p14="http://schemas.microsoft.com/office/powerpoint/2010/main" val="1121053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827CA-3293-FC2C-7CDF-69CA5BC0EC14}"/>
            </a:ext>
          </a:extLst>
        </p:cNvPr>
        <p:cNvGrpSpPr/>
        <p:nvPr/>
      </p:nvGrpSpPr>
      <p:grpSpPr>
        <a:xfrm>
          <a:off x="0" y="0"/>
          <a:ext cx="0" cy="0"/>
          <a:chOff x="0" y="0"/>
          <a:chExt cx="0" cy="0"/>
        </a:xfrm>
      </p:grpSpPr>
      <p:pic>
        <p:nvPicPr>
          <p:cNvPr id="2" name="object 4">
            <a:extLst>
              <a:ext uri="{FF2B5EF4-FFF2-40B4-BE49-F238E27FC236}">
                <a16:creationId xmlns:a16="http://schemas.microsoft.com/office/drawing/2014/main" id="{D52962B9-8532-DF35-22D9-18E9DA3A092D}"/>
              </a:ext>
            </a:extLst>
          </p:cNvPr>
          <p:cNvPicPr/>
          <p:nvPr/>
        </p:nvPicPr>
        <p:blipFill>
          <a:blip r:embed="rId2" cstate="print"/>
          <a:stretch>
            <a:fillRect/>
          </a:stretch>
        </p:blipFill>
        <p:spPr>
          <a:xfrm>
            <a:off x="357352" y="191643"/>
            <a:ext cx="1103582" cy="1342897"/>
          </a:xfrm>
          <a:prstGeom prst="rect">
            <a:avLst/>
          </a:prstGeom>
        </p:spPr>
      </p:pic>
      <p:pic>
        <p:nvPicPr>
          <p:cNvPr id="3" name="object 5">
            <a:extLst>
              <a:ext uri="{FF2B5EF4-FFF2-40B4-BE49-F238E27FC236}">
                <a16:creationId xmlns:a16="http://schemas.microsoft.com/office/drawing/2014/main" id="{25F7A2DE-0B01-E762-CA74-0F27C3665477}"/>
              </a:ext>
            </a:extLst>
          </p:cNvPr>
          <p:cNvPicPr/>
          <p:nvPr/>
        </p:nvPicPr>
        <p:blipFill>
          <a:blip r:embed="rId3" cstate="print"/>
          <a:stretch>
            <a:fillRect/>
          </a:stretch>
        </p:blipFill>
        <p:spPr>
          <a:xfrm>
            <a:off x="10293531" y="191643"/>
            <a:ext cx="1740735" cy="1342897"/>
          </a:xfrm>
          <a:prstGeom prst="rect">
            <a:avLst/>
          </a:prstGeom>
        </p:spPr>
      </p:pic>
      <p:sp>
        <p:nvSpPr>
          <p:cNvPr id="5" name="TextBox 4">
            <a:extLst>
              <a:ext uri="{FF2B5EF4-FFF2-40B4-BE49-F238E27FC236}">
                <a16:creationId xmlns:a16="http://schemas.microsoft.com/office/drawing/2014/main" id="{B603C861-9E12-2F70-5B84-85D3E5F778FD}"/>
              </a:ext>
            </a:extLst>
          </p:cNvPr>
          <p:cNvSpPr txBox="1"/>
          <p:nvPr/>
        </p:nvSpPr>
        <p:spPr>
          <a:xfrm>
            <a:off x="3588188" y="670399"/>
            <a:ext cx="4360884"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Core -  Technical</a:t>
            </a:r>
          </a:p>
        </p:txBody>
      </p:sp>
      <p:sp>
        <p:nvSpPr>
          <p:cNvPr id="4" name="Rectangle 1">
            <a:extLst>
              <a:ext uri="{FF2B5EF4-FFF2-40B4-BE49-F238E27FC236}">
                <a16:creationId xmlns:a16="http://schemas.microsoft.com/office/drawing/2014/main" id="{64286F36-95D5-2621-4F92-32E6569C3D20}"/>
              </a:ext>
            </a:extLst>
          </p:cNvPr>
          <p:cNvSpPr>
            <a:spLocks noChangeArrowheads="1"/>
          </p:cNvSpPr>
          <p:nvPr/>
        </p:nvSpPr>
        <p:spPr bwMode="auto">
          <a:xfrm>
            <a:off x="1441268" y="1350315"/>
            <a:ext cx="9309463" cy="574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Data Collection</a:t>
            </a:r>
            <a:r>
              <a:rPr lang="en-US" sz="1900" dirty="0">
                <a:latin typeface="Times New Roman" panose="02020603050405020304" pitchFamily="18" charset="0"/>
                <a:cs typeface="Times New Roman" panose="02020603050405020304" pitchFamily="18" charset="0"/>
              </a:rPr>
              <a:t>: A labeled dataset containing both Spam and Ham (Legitimate) emails is collected. These emails serve as the training data for the Machine Learning model to learn different email patterns.</a:t>
            </a:r>
          </a:p>
          <a:p>
            <a:pPr marL="342900" indent="-342900"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Data Preprocessing</a:t>
            </a:r>
            <a:r>
              <a:rPr lang="en-US" sz="1900" dirty="0">
                <a:latin typeface="Times New Roman" panose="02020603050405020304" pitchFamily="18" charset="0"/>
                <a:cs typeface="Times New Roman" panose="02020603050405020304" pitchFamily="18" charset="0"/>
              </a:rPr>
              <a:t>: The email text is cleaned by converting it to lowercase, removing punctuation, special characters, stop words, and unnecessary spaces. The text is then tokenized to improve processing efficiency.</a:t>
            </a:r>
          </a:p>
          <a:p>
            <a:pPr marL="342900" indent="-342900"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Feature Extraction</a:t>
            </a:r>
            <a:r>
              <a:rPr lang="en-US" sz="1900" dirty="0">
                <a:latin typeface="Times New Roman" panose="02020603050405020304" pitchFamily="18" charset="0"/>
                <a:cs typeface="Times New Roman" panose="02020603050405020304" pitchFamily="18" charset="0"/>
              </a:rPr>
              <a:t>: The cleaned text is transformed into numerical features using techniques such as TF-IDF (Term Frequency–Inverse Document Frequency) or Bag of Words (</a:t>
            </a:r>
            <a:r>
              <a:rPr lang="en-US" sz="1900" dirty="0" err="1">
                <a:latin typeface="Times New Roman" panose="02020603050405020304" pitchFamily="18" charset="0"/>
                <a:cs typeface="Times New Roman" panose="02020603050405020304" pitchFamily="18" charset="0"/>
              </a:rPr>
              <a:t>BoW</a:t>
            </a:r>
            <a:r>
              <a:rPr lang="en-US" sz="1900" dirty="0">
                <a:latin typeface="Times New Roman" panose="02020603050405020304" pitchFamily="18" charset="0"/>
                <a:cs typeface="Times New Roman" panose="02020603050405020304" pitchFamily="18" charset="0"/>
              </a:rPr>
              <a:t>), enabling the ML model to understand textual information.</a:t>
            </a:r>
          </a:p>
          <a:p>
            <a:pPr marL="342900" indent="-342900"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Model Training</a:t>
            </a:r>
            <a:r>
              <a:rPr lang="en-US" sz="1900" dirty="0">
                <a:latin typeface="Times New Roman" panose="02020603050405020304" pitchFamily="18" charset="0"/>
                <a:cs typeface="Times New Roman" panose="02020603050405020304" pitchFamily="18" charset="0"/>
              </a:rPr>
              <a:t>: Machine Learning algorithms such as Naïve Bayes, Logistic Regression, or Support Vector Machine (SVM) are trained using the extracted features to identify patterns that distinguish spam from legitimate emails.</a:t>
            </a:r>
          </a:p>
          <a:p>
            <a:pPr marL="342900" indent="-342900"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Email Classification</a:t>
            </a:r>
            <a:r>
              <a:rPr lang="en-US" sz="1900" dirty="0">
                <a:latin typeface="Times New Roman" panose="02020603050405020304" pitchFamily="18" charset="0"/>
                <a:cs typeface="Times New Roman" panose="02020603050405020304" pitchFamily="18" charset="0"/>
              </a:rPr>
              <a:t>: When a new email is received, it undergoes the same preprocessing and feature extraction steps. The trained model then predicts whether the email is Spam or Ham, allowing it to be routed to the appropriate folder.</a:t>
            </a:r>
          </a:p>
          <a:p>
            <a:pPr marL="342900" indent="-342900" algn="just">
              <a:buFont typeface="Arial" panose="020B0604020202020204" pitchFamily="34" charset="0"/>
              <a:buChar char="•"/>
            </a:pPr>
            <a:r>
              <a:rPr lang="en-US" sz="1900" b="1" dirty="0">
                <a:latin typeface="Times New Roman" panose="02020603050405020304" pitchFamily="18" charset="0"/>
                <a:cs typeface="Times New Roman" panose="02020603050405020304" pitchFamily="18" charset="0"/>
              </a:rPr>
              <a:t>Performance Evaluation</a:t>
            </a:r>
            <a:r>
              <a:rPr lang="en-US" sz="1900" dirty="0">
                <a:latin typeface="Times New Roman" panose="02020603050405020304" pitchFamily="18" charset="0"/>
                <a:cs typeface="Times New Roman" panose="02020603050405020304" pitchFamily="18" charset="0"/>
              </a:rPr>
              <a:t>: The model's effectiveness is measured using evaluation metrics such as Accuracy, Precision, Recall, and F1-Score, ensuring reliable spam detection while minimizing incorrect classifications.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9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2546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6F02A-6E8E-AC74-A776-873EDB73E655}"/>
            </a:ext>
          </a:extLst>
        </p:cNvPr>
        <p:cNvGrpSpPr/>
        <p:nvPr/>
      </p:nvGrpSpPr>
      <p:grpSpPr>
        <a:xfrm>
          <a:off x="0" y="0"/>
          <a:ext cx="0" cy="0"/>
          <a:chOff x="0" y="0"/>
          <a:chExt cx="0" cy="0"/>
        </a:xfrm>
      </p:grpSpPr>
      <p:pic>
        <p:nvPicPr>
          <p:cNvPr id="2" name="object 4">
            <a:extLst>
              <a:ext uri="{FF2B5EF4-FFF2-40B4-BE49-F238E27FC236}">
                <a16:creationId xmlns:a16="http://schemas.microsoft.com/office/drawing/2014/main" id="{0C5112D6-2F70-886E-5E59-09BC61B498AB}"/>
              </a:ext>
            </a:extLst>
          </p:cNvPr>
          <p:cNvPicPr/>
          <p:nvPr/>
        </p:nvPicPr>
        <p:blipFill>
          <a:blip r:embed="rId2" cstate="print"/>
          <a:stretch>
            <a:fillRect/>
          </a:stretch>
        </p:blipFill>
        <p:spPr>
          <a:xfrm>
            <a:off x="357352" y="191643"/>
            <a:ext cx="1103582" cy="1342897"/>
          </a:xfrm>
          <a:prstGeom prst="rect">
            <a:avLst/>
          </a:prstGeom>
        </p:spPr>
      </p:pic>
      <p:pic>
        <p:nvPicPr>
          <p:cNvPr id="3" name="object 5">
            <a:extLst>
              <a:ext uri="{FF2B5EF4-FFF2-40B4-BE49-F238E27FC236}">
                <a16:creationId xmlns:a16="http://schemas.microsoft.com/office/drawing/2014/main" id="{BD5BEF6D-D20F-E036-2535-7EE662E4AA8B}"/>
              </a:ext>
            </a:extLst>
          </p:cNvPr>
          <p:cNvPicPr/>
          <p:nvPr/>
        </p:nvPicPr>
        <p:blipFill>
          <a:blip r:embed="rId3" cstate="print"/>
          <a:stretch>
            <a:fillRect/>
          </a:stretch>
        </p:blipFill>
        <p:spPr>
          <a:xfrm>
            <a:off x="10388600" y="191643"/>
            <a:ext cx="1645666" cy="1342897"/>
          </a:xfrm>
          <a:prstGeom prst="rect">
            <a:avLst/>
          </a:prstGeom>
        </p:spPr>
      </p:pic>
      <p:sp>
        <p:nvSpPr>
          <p:cNvPr id="5" name="TextBox 4">
            <a:extLst>
              <a:ext uri="{FF2B5EF4-FFF2-40B4-BE49-F238E27FC236}">
                <a16:creationId xmlns:a16="http://schemas.microsoft.com/office/drawing/2014/main" id="{C4553E6C-7023-97C4-E1DB-B8DF09FEA49F}"/>
              </a:ext>
            </a:extLst>
          </p:cNvPr>
          <p:cNvSpPr txBox="1"/>
          <p:nvPr/>
        </p:nvSpPr>
        <p:spPr>
          <a:xfrm>
            <a:off x="2276999" y="632258"/>
            <a:ext cx="7295536"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Real World Use - Case</a:t>
            </a:r>
          </a:p>
        </p:txBody>
      </p:sp>
      <p:sp>
        <p:nvSpPr>
          <p:cNvPr id="7" name="TextBox 6">
            <a:extLst>
              <a:ext uri="{FF2B5EF4-FFF2-40B4-BE49-F238E27FC236}">
                <a16:creationId xmlns:a16="http://schemas.microsoft.com/office/drawing/2014/main" id="{D7174D11-6619-D97C-F303-9278EC608BAE}"/>
              </a:ext>
            </a:extLst>
          </p:cNvPr>
          <p:cNvSpPr txBox="1"/>
          <p:nvPr/>
        </p:nvSpPr>
        <p:spPr>
          <a:xfrm>
            <a:off x="1460934" y="2038511"/>
            <a:ext cx="9176586" cy="3647152"/>
          </a:xfrm>
          <a:prstGeom prst="rect">
            <a:avLst/>
          </a:prstGeom>
          <a:noFill/>
        </p:spPr>
        <p:txBody>
          <a:bodyPr wrap="square">
            <a:spAutoFit/>
          </a:bodyPr>
          <a:lstStyle/>
          <a:p>
            <a:pPr marL="342900" indent="-342900">
              <a:spcAft>
                <a:spcPts val="600"/>
              </a:spcAft>
              <a:buSzPct val="100000"/>
              <a:buChar char="•"/>
            </a:pPr>
            <a:r>
              <a:rPr lang="en-US" sz="2400" b="1" dirty="0">
                <a:latin typeface="Times New Roman" panose="02020603050405020304" pitchFamily="18" charset="0"/>
                <a:cs typeface="Times New Roman" panose="02020603050405020304" pitchFamily="18" charset="0"/>
              </a:rPr>
              <a:t>Email Services: </a:t>
            </a:r>
            <a:r>
              <a:rPr lang="en-US" sz="2400" dirty="0">
                <a:latin typeface="Times New Roman" panose="02020603050405020304" pitchFamily="18" charset="0"/>
                <a:cs typeface="Times New Roman" panose="02020603050405020304" pitchFamily="18" charset="0"/>
              </a:rPr>
              <a:t>Gmail, Outlook, and Yahoo Mail automatically filter spam. </a:t>
            </a:r>
          </a:p>
          <a:p>
            <a:pPr marL="342900" indent="-342900">
              <a:spcAft>
                <a:spcPts val="600"/>
              </a:spcAft>
              <a:buSzPct val="100000"/>
              <a:buChar char="•"/>
            </a:pPr>
            <a:r>
              <a:rPr lang="en-US" sz="2400" b="1" dirty="0">
                <a:latin typeface="Times New Roman" panose="02020603050405020304" pitchFamily="18" charset="0"/>
                <a:cs typeface="Times New Roman" panose="02020603050405020304" pitchFamily="18" charset="0"/>
              </a:rPr>
              <a:t>Banking:</a:t>
            </a:r>
            <a:r>
              <a:rPr lang="en-US" sz="2400" dirty="0">
                <a:latin typeface="Times New Roman" panose="02020603050405020304" pitchFamily="18" charset="0"/>
                <a:cs typeface="Times New Roman" panose="02020603050405020304" pitchFamily="18" charset="0"/>
              </a:rPr>
              <a:t> Detect phishing emails that attempt to steal customer credentials. Corporate Organizations: Protect employees from malware and ransomware attacks. </a:t>
            </a:r>
          </a:p>
          <a:p>
            <a:pPr marL="342900" indent="-342900">
              <a:spcAft>
                <a:spcPts val="600"/>
              </a:spcAft>
              <a:buSzPct val="100000"/>
              <a:buChar char="•"/>
            </a:pPr>
            <a:r>
              <a:rPr lang="en-US" sz="2400" b="1" dirty="0">
                <a:latin typeface="Times New Roman" panose="02020603050405020304" pitchFamily="18" charset="0"/>
                <a:cs typeface="Times New Roman" panose="02020603050405020304" pitchFamily="18" charset="0"/>
              </a:rPr>
              <a:t>E-commerce Platforms: </a:t>
            </a:r>
            <a:r>
              <a:rPr lang="en-US" sz="2400" dirty="0">
                <a:latin typeface="Times New Roman" panose="02020603050405020304" pitchFamily="18" charset="0"/>
                <a:cs typeface="Times New Roman" panose="02020603050405020304" pitchFamily="18" charset="0"/>
              </a:rPr>
              <a:t>Prevent fraudulent promotional and scam emails. </a:t>
            </a:r>
          </a:p>
          <a:p>
            <a:pPr marL="342900" indent="-342900">
              <a:spcAft>
                <a:spcPts val="600"/>
              </a:spcAft>
              <a:buSzPct val="100000"/>
              <a:buChar char="•"/>
            </a:pPr>
            <a:r>
              <a:rPr lang="en-US" sz="2400" b="1" dirty="0">
                <a:latin typeface="Times New Roman" panose="02020603050405020304" pitchFamily="18" charset="0"/>
                <a:cs typeface="Times New Roman" panose="02020603050405020304" pitchFamily="18" charset="0"/>
              </a:rPr>
              <a:t>Educational Institutions: </a:t>
            </a:r>
            <a:r>
              <a:rPr lang="en-US" sz="2400" dirty="0">
                <a:latin typeface="Times New Roman" panose="02020603050405020304" pitchFamily="18" charset="0"/>
                <a:cs typeface="Times New Roman" panose="02020603050405020304" pitchFamily="18" charset="0"/>
              </a:rPr>
              <a:t>Filter unwanted emails while ensuring important academic communications reach students.</a:t>
            </a:r>
          </a:p>
        </p:txBody>
      </p:sp>
    </p:spTree>
    <p:extLst>
      <p:ext uri="{BB962C8B-B14F-4D97-AF65-F5344CB8AC3E}">
        <p14:creationId xmlns:p14="http://schemas.microsoft.com/office/powerpoint/2010/main" val="129261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8D50C-0514-796E-57D8-9D353E29A048}"/>
            </a:ext>
          </a:extLst>
        </p:cNvPr>
        <p:cNvGrpSpPr/>
        <p:nvPr/>
      </p:nvGrpSpPr>
      <p:grpSpPr>
        <a:xfrm>
          <a:off x="0" y="0"/>
          <a:ext cx="0" cy="0"/>
          <a:chOff x="0" y="0"/>
          <a:chExt cx="0" cy="0"/>
        </a:xfrm>
      </p:grpSpPr>
      <p:pic>
        <p:nvPicPr>
          <p:cNvPr id="2" name="object 4">
            <a:extLst>
              <a:ext uri="{FF2B5EF4-FFF2-40B4-BE49-F238E27FC236}">
                <a16:creationId xmlns:a16="http://schemas.microsoft.com/office/drawing/2014/main" id="{409C3EFE-0D17-7D34-5530-93DC6179F718}"/>
              </a:ext>
            </a:extLst>
          </p:cNvPr>
          <p:cNvPicPr/>
          <p:nvPr/>
        </p:nvPicPr>
        <p:blipFill>
          <a:blip r:embed="rId2" cstate="print"/>
          <a:stretch>
            <a:fillRect/>
          </a:stretch>
        </p:blipFill>
        <p:spPr>
          <a:xfrm>
            <a:off x="357352" y="191643"/>
            <a:ext cx="1103582" cy="1342897"/>
          </a:xfrm>
          <a:prstGeom prst="rect">
            <a:avLst/>
          </a:prstGeom>
        </p:spPr>
      </p:pic>
      <p:pic>
        <p:nvPicPr>
          <p:cNvPr id="3" name="object 5">
            <a:extLst>
              <a:ext uri="{FF2B5EF4-FFF2-40B4-BE49-F238E27FC236}">
                <a16:creationId xmlns:a16="http://schemas.microsoft.com/office/drawing/2014/main" id="{761834E8-6CF5-3982-4C12-96C54ACEF5E0}"/>
              </a:ext>
            </a:extLst>
          </p:cNvPr>
          <p:cNvPicPr/>
          <p:nvPr/>
        </p:nvPicPr>
        <p:blipFill>
          <a:blip r:embed="rId3" cstate="print"/>
          <a:stretch>
            <a:fillRect/>
          </a:stretch>
        </p:blipFill>
        <p:spPr>
          <a:xfrm>
            <a:off x="10388600" y="191643"/>
            <a:ext cx="1645666" cy="1342897"/>
          </a:xfrm>
          <a:prstGeom prst="rect">
            <a:avLst/>
          </a:prstGeom>
        </p:spPr>
      </p:pic>
      <p:sp>
        <p:nvSpPr>
          <p:cNvPr id="5" name="TextBox 4">
            <a:extLst>
              <a:ext uri="{FF2B5EF4-FFF2-40B4-BE49-F238E27FC236}">
                <a16:creationId xmlns:a16="http://schemas.microsoft.com/office/drawing/2014/main" id="{AA804E15-9335-FB47-CD86-B6C8348612D4}"/>
              </a:ext>
            </a:extLst>
          </p:cNvPr>
          <p:cNvSpPr txBox="1"/>
          <p:nvPr/>
        </p:nvSpPr>
        <p:spPr>
          <a:xfrm>
            <a:off x="2276999" y="632258"/>
            <a:ext cx="7295536"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Conclusion</a:t>
            </a:r>
          </a:p>
        </p:txBody>
      </p:sp>
      <p:sp>
        <p:nvSpPr>
          <p:cNvPr id="6" name="TextBox 5">
            <a:extLst>
              <a:ext uri="{FF2B5EF4-FFF2-40B4-BE49-F238E27FC236}">
                <a16:creationId xmlns:a16="http://schemas.microsoft.com/office/drawing/2014/main" id="{A3F35B1F-A65E-27FE-CDCD-86E2D0C78831}"/>
              </a:ext>
            </a:extLst>
          </p:cNvPr>
          <p:cNvSpPr txBox="1"/>
          <p:nvPr/>
        </p:nvSpPr>
        <p:spPr>
          <a:xfrm>
            <a:off x="1254066" y="1730091"/>
            <a:ext cx="10099734" cy="4431983"/>
          </a:xfrm>
          <a:prstGeom prst="rect">
            <a:avLst/>
          </a:prstGeom>
          <a:noFill/>
        </p:spPr>
        <p:txBody>
          <a:bodyPr wrap="square">
            <a:spAutoFit/>
          </a:bodyPr>
          <a:lstStyle/>
          <a:p>
            <a:pPr marL="342900" indent="-342900" algn="just">
              <a:spcAft>
                <a:spcPts val="600"/>
              </a:spcAft>
              <a:buSzPct val="100000"/>
              <a:buChar char="•"/>
            </a:pPr>
            <a:r>
              <a:rPr lang="en-US" sz="2200" dirty="0">
                <a:latin typeface="Times New Roman" panose="02020603050405020304" pitchFamily="18" charset="0"/>
                <a:cs typeface="Times New Roman" panose="02020603050405020304" pitchFamily="18" charset="0"/>
              </a:rPr>
              <a:t>Machine Learning provides an effective and intelligent approach to spam email detection. </a:t>
            </a:r>
          </a:p>
          <a:p>
            <a:pPr marL="342900" indent="-342900" algn="just">
              <a:spcAft>
                <a:spcPts val="600"/>
              </a:spcAft>
              <a:buSzPct val="100000"/>
              <a:buChar char="•"/>
            </a:pPr>
            <a:endParaRPr lang="en-US" sz="220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2200" dirty="0">
                <a:latin typeface="Times New Roman" panose="02020603050405020304" pitchFamily="18" charset="0"/>
                <a:cs typeface="Times New Roman" panose="02020603050405020304" pitchFamily="18" charset="0"/>
              </a:rPr>
              <a:t>It continuously improves by learning from new email patterns.</a:t>
            </a:r>
          </a:p>
          <a:p>
            <a:pPr marL="342900" indent="-342900" algn="just">
              <a:spcAft>
                <a:spcPts val="600"/>
              </a:spcAft>
              <a:buSzPct val="100000"/>
              <a:buChar char="•"/>
            </a:pPr>
            <a:endParaRPr lang="en-US" sz="220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2200" dirty="0">
                <a:latin typeface="Times New Roman" panose="02020603050405020304" pitchFamily="18" charset="0"/>
                <a:cs typeface="Times New Roman" panose="02020603050405020304" pitchFamily="18" charset="0"/>
              </a:rPr>
              <a:t> Accurate spam filtering enhances cybersecurity and protects sensitive information. </a:t>
            </a:r>
          </a:p>
          <a:p>
            <a:pPr marL="342900" indent="-342900" algn="just">
              <a:spcAft>
                <a:spcPts val="600"/>
              </a:spcAft>
              <a:buSzPct val="100000"/>
              <a:buChar char="•"/>
            </a:pPr>
            <a:endParaRPr lang="en-US" sz="220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2200" dirty="0">
                <a:latin typeface="Times New Roman" panose="02020603050405020304" pitchFamily="18" charset="0"/>
                <a:cs typeface="Times New Roman" panose="02020603050405020304" pitchFamily="18" charset="0"/>
              </a:rPr>
              <a:t>ML-based systems reduce manual effort while improving email reliability. </a:t>
            </a:r>
          </a:p>
          <a:p>
            <a:pPr marL="342900" indent="-342900" algn="just">
              <a:spcAft>
                <a:spcPts val="600"/>
              </a:spcAft>
              <a:buSzPct val="100000"/>
              <a:buChar char="•"/>
            </a:pPr>
            <a:endParaRPr lang="en-US" sz="220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2200" dirty="0">
                <a:latin typeface="Times New Roman" panose="02020603050405020304" pitchFamily="18" charset="0"/>
                <a:cs typeface="Times New Roman" panose="02020603050405020304" pitchFamily="18" charset="0"/>
              </a:rPr>
              <a:t>Future improvements can integrate Deep Learning and Natural Language Processing (NLP) for even higher detection accuracy.</a:t>
            </a:r>
          </a:p>
        </p:txBody>
      </p:sp>
    </p:spTree>
    <p:extLst>
      <p:ext uri="{BB962C8B-B14F-4D97-AF65-F5344CB8AC3E}">
        <p14:creationId xmlns:p14="http://schemas.microsoft.com/office/powerpoint/2010/main" val="3255006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677</TotalTime>
  <Words>678</Words>
  <Application>Microsoft Macintosh PowerPoint</Application>
  <PresentationFormat>Widescreen</PresentationFormat>
  <Paragraphs>61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Arshini Chowdary</dc:creator>
  <cp:lastModifiedBy>Ajay .</cp:lastModifiedBy>
  <cp:revision>26</cp:revision>
  <dcterms:created xsi:type="dcterms:W3CDTF">2025-10-08T03:41:06Z</dcterms:created>
  <dcterms:modified xsi:type="dcterms:W3CDTF">2026-07-24T03:35:29Z</dcterms:modified>
</cp:coreProperties>
</file>